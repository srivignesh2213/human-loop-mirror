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8288000" cy="10287000"/>
  <p:notesSz cx="6858000" cy="9144000"/>
  <p:embeddedFontLst>
    <p:embeddedFont>
      <p:font typeface="Poppins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eenraja V M" initials="NV" lastIdx="1" clrIdx="0">
    <p:extLst>
      <p:ext uri="{19B8F6BF-5375-455C-9EA6-DF929625EA0E}">
        <p15:presenceInfo xmlns:p15="http://schemas.microsoft.com/office/powerpoint/2012/main" userId="b6463202b5f400b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411D"/>
    <a:srgbClr val="C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8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8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4888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2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6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6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7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7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7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3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4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8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hyperlink" Target="https://pmc.ncbi.nlm.nih.gov/articles/PMC12718660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2666915323001816?via%3Dihub" TargetMode="Externa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6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7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B7626EC-81B8-104F-DEED-605E12BA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" y="-24194"/>
            <a:ext cx="18284372" cy="10287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8C626DB-B973-D0EC-ED34-69A1E594E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742" y="2069375"/>
            <a:ext cx="8245752" cy="7636144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3830954" y="-293195"/>
            <a:ext cx="9038091" cy="1550495"/>
            <a:chOff x="5104872" y="-76618"/>
            <a:chExt cx="12050788" cy="2067326"/>
          </a:xfrm>
        </p:grpSpPr>
        <p:sp>
          <p:nvSpPr>
            <p:cNvPr id="1048591" name="TextBox 11"/>
            <p:cNvSpPr txBox="1"/>
            <p:nvPr/>
          </p:nvSpPr>
          <p:spPr>
            <a:xfrm>
              <a:off x="15366736" y="-76618"/>
              <a:ext cx="1788924" cy="1708657"/>
            </a:xfrm>
            <a:prstGeom prst="rect">
              <a:avLst/>
            </a:prstGeom>
          </p:spPr>
          <p:txBody>
            <a:bodyPr lIns="32471" tIns="32471" rIns="32471" bIns="32471" rtlCol="0" anchor="ctr"/>
            <a:lstStyle/>
            <a:p>
              <a:pPr algn="ctr">
                <a:lnSpc>
                  <a:spcPts val="50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594" name="TextBox 15"/>
            <p:cNvSpPr txBox="1"/>
            <p:nvPr/>
          </p:nvSpPr>
          <p:spPr>
            <a:xfrm>
              <a:off x="11641973" y="80276"/>
              <a:ext cx="3153264" cy="1656305"/>
            </a:xfrm>
            <a:prstGeom prst="rect">
              <a:avLst/>
            </a:prstGeom>
          </p:spPr>
          <p:txBody>
            <a:bodyPr lIns="31476" tIns="31476" rIns="31476" bIns="31476" rtlCol="0" anchor="ctr"/>
            <a:lstStyle/>
            <a:p>
              <a:pPr algn="ctr">
                <a:lnSpc>
                  <a:spcPts val="504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598" name="Freeform 19"/>
            <p:cNvSpPr/>
            <p:nvPr/>
          </p:nvSpPr>
          <p:spPr>
            <a:xfrm rot="5400000" flipV="1">
              <a:off x="7788900" y="1105899"/>
              <a:ext cx="1708657" cy="60961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411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B75E8290-AC79-D111-899F-77E4C07170D2}"/>
                </a:ext>
              </a:extLst>
            </p:cNvPr>
            <p:cNvSpPr/>
            <p:nvPr/>
          </p:nvSpPr>
          <p:spPr>
            <a:xfrm rot="5400000" flipV="1">
              <a:off x="4281024" y="1105898"/>
              <a:ext cx="1708657" cy="60961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411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48606" name="TextBox 27"/>
          <p:cNvSpPr txBox="1"/>
          <p:nvPr/>
        </p:nvSpPr>
        <p:spPr>
          <a:xfrm>
            <a:off x="3257854" y="1530118"/>
            <a:ext cx="1502651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TITLE: “ </a:t>
            </a:r>
            <a:r>
              <a:rPr lang="en-IN" sz="3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 Loop Mirror</a:t>
            </a:r>
            <a:r>
              <a:rPr lang="en-IN" sz="3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“AI-based habit awareness system</a:t>
            </a:r>
            <a:endParaRPr lang="en-US" sz="36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07" name="TextBox 28"/>
          <p:cNvSpPr txBox="1"/>
          <p:nvPr/>
        </p:nvSpPr>
        <p:spPr>
          <a:xfrm>
            <a:off x="837155" y="4242950"/>
            <a:ext cx="707644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TEAM NAME: Team </a:t>
            </a:r>
            <a:r>
              <a:rPr lang="en-US" sz="2800" b="1" dirty="0" err="1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Vizers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08" name="TextBox 29"/>
          <p:cNvSpPr txBox="1"/>
          <p:nvPr/>
        </p:nvSpPr>
        <p:spPr>
          <a:xfrm>
            <a:off x="837367" y="4709478"/>
            <a:ext cx="334264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TEAM ID: HL140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10" name="TextBox 31"/>
          <p:cNvSpPr txBox="1"/>
          <p:nvPr/>
        </p:nvSpPr>
        <p:spPr>
          <a:xfrm>
            <a:off x="837565" y="5370830"/>
            <a:ext cx="8643866" cy="4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DOMAIN: Artificial Intelligence and Data Science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11" name="TextBox 32"/>
          <p:cNvSpPr txBox="1"/>
          <p:nvPr/>
        </p:nvSpPr>
        <p:spPr>
          <a:xfrm>
            <a:off x="837565" y="6518910"/>
            <a:ext cx="6167755" cy="847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MEMBER-1 NAME: </a:t>
            </a:r>
            <a:r>
              <a:rPr lang="en-US" sz="2800" b="1" dirty="0" err="1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Ramanarajarajan</a:t>
            </a: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 T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12" name="TextBox 33"/>
          <p:cNvSpPr txBox="1"/>
          <p:nvPr/>
        </p:nvSpPr>
        <p:spPr>
          <a:xfrm>
            <a:off x="837565" y="7095490"/>
            <a:ext cx="607822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MEMBER-2 NAME: Sharvesh S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sp>
        <p:nvSpPr>
          <p:cNvPr id="1048614" name="TextBox 37"/>
          <p:cNvSpPr txBox="1"/>
          <p:nvPr/>
        </p:nvSpPr>
        <p:spPr>
          <a:xfrm>
            <a:off x="837565" y="5942330"/>
            <a:ext cx="637286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6D411D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TEAM LEADER NAME: Sri Vignesh R</a:t>
            </a:r>
            <a:endParaRPr lang="en-IN" altLang="en-US" sz="2800" b="1" dirty="0">
              <a:solidFill>
                <a:srgbClr val="6D411D"/>
              </a:solidFill>
              <a:latin typeface="Times New Roman" panose="02020603050405020304" pitchFamily="18" charset="0"/>
              <a:ea typeface="Poppins Bold" panose="00000800000000000000"/>
              <a:cs typeface="Times New Roman" panose="02020603050405020304" pitchFamily="18" charset="0"/>
              <a:sym typeface="Poppins Bold" panose="00000800000000000000"/>
            </a:endParaRPr>
          </a:p>
        </p:txBody>
      </p:sp>
      <p:pic>
        <p:nvPicPr>
          <p:cNvPr id="4" name="Picture 3" descr="Campus - Erode Sengunthar Engineering College">
            <a:extLst>
              <a:ext uri="{FF2B5EF4-FFF2-40B4-BE49-F238E27FC236}">
                <a16:creationId xmlns:a16="http://schemas.microsoft.com/office/drawing/2014/main" id="{AF723CEC-1DA5-669C-608F-677095A72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82" y="571500"/>
            <a:ext cx="2986918" cy="51104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4795352-AB05-EF2A-5362-C57698DAE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2631" y="2103987"/>
            <a:ext cx="6346718" cy="423114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8A46FB7-39CC-1AC9-16BE-C39AF309C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4545" y="5122861"/>
            <a:ext cx="3013210" cy="45277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56419FA-A186-1371-1D80-4B184B153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3770" y="1971342"/>
            <a:ext cx="2736160" cy="411140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B144A08-7E5B-7E45-BCE0-78241B70F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7229" y="3299052"/>
            <a:ext cx="1759115" cy="2643278"/>
          </a:xfrm>
          <a:prstGeom prst="rect">
            <a:avLst/>
          </a:prstGeom>
        </p:spPr>
      </p:pic>
      <p:pic>
        <p:nvPicPr>
          <p:cNvPr id="1048576" name="Picture 1048575">
            <a:extLst>
              <a:ext uri="{FF2B5EF4-FFF2-40B4-BE49-F238E27FC236}">
                <a16:creationId xmlns:a16="http://schemas.microsoft.com/office/drawing/2014/main" id="{115C9DB5-326F-D021-A725-F9BF64B36D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-419100"/>
            <a:ext cx="2151024" cy="2151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AD0818-B38A-68A1-1C3E-455F67C32B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6DD778DD-8421-D376-469C-3A0B4486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50" y="0"/>
            <a:ext cx="18288000" cy="1028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38D32E-4984-77BE-B9AD-55AD12254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305" y="1325428"/>
            <a:ext cx="8245752" cy="7636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CDEEC6-2E77-5284-802B-EDC2B7E49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50" y="125293"/>
            <a:ext cx="4808150" cy="1284407"/>
          </a:xfrm>
          <a:prstGeom prst="rect">
            <a:avLst/>
          </a:prstGeom>
        </p:spPr>
      </p:pic>
      <p:sp>
        <p:nvSpPr>
          <p:cNvPr id="1048637" name="TextBox 28"/>
          <p:cNvSpPr txBox="1"/>
          <p:nvPr/>
        </p:nvSpPr>
        <p:spPr>
          <a:xfrm>
            <a:off x="-52815" y="523086"/>
            <a:ext cx="4562930" cy="48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C9C55-9A23-0691-AD27-7D96DC3A5D63}"/>
              </a:ext>
            </a:extLst>
          </p:cNvPr>
          <p:cNvSpPr txBox="1"/>
          <p:nvPr/>
        </p:nvSpPr>
        <p:spPr>
          <a:xfrm>
            <a:off x="425509" y="2586483"/>
            <a:ext cx="8389593" cy="506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spend a lot of time on digital devices but often don't understand their own usage patterns and habits.</a:t>
            </a:r>
          </a:p>
          <a:p>
            <a:pPr rtl="0">
              <a:buNone/>
            </a:pP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 in current tools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For Example :Screen Time, Digital Wellbeing ):</a:t>
            </a:r>
          </a:p>
          <a:p>
            <a:pPr rtl="0">
              <a:buNone/>
            </a:pP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show totals, not meaning.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treat all screen time as equal.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counts are shown separately from what you actually opened afterwards.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push generic limits that people bypass.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Guilt-driven design makes users quit.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B4590-9BC4-3D6A-9BB3-21E80AF1E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367" y="2799560"/>
            <a:ext cx="8903548" cy="4635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95BF59-69D1-9825-A86A-D28B38A2FFE3}"/>
              </a:ext>
            </a:extLst>
          </p:cNvPr>
          <p:cNvSpPr txBox="1"/>
          <p:nvPr/>
        </p:nvSpPr>
        <p:spPr>
          <a:xfrm>
            <a:off x="1580381" y="8178500"/>
            <a:ext cx="1432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Articles :</a:t>
            </a:r>
            <a:b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https://www.sciencedirect.com/science/article/pii/S2666915323001816?via%3Dihub</a:t>
            </a:r>
            <a:b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https://pmc.ncbi.nlm.nih.gov/articles/PMC12718660/</a:t>
            </a: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10A699-7D45-FE88-AB3E-84F3637D86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830EF80E-D0B9-D333-EA4E-C4A490EBB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A0CE95-9A50-F838-BE20-7B97A1E8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4808150" cy="1284407"/>
          </a:xfrm>
          <a:prstGeom prst="rect">
            <a:avLst/>
          </a:prstGeom>
        </p:spPr>
      </p:pic>
      <p:sp>
        <p:nvSpPr>
          <p:cNvPr id="1048661" name="TextBox 28"/>
          <p:cNvSpPr txBox="1"/>
          <p:nvPr/>
        </p:nvSpPr>
        <p:spPr>
          <a:xfrm>
            <a:off x="-152400" y="495300"/>
            <a:ext cx="4562930" cy="48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PROPOSED 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953C37-6B62-B7D7-7F92-AC22778BF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15" y="1325428"/>
            <a:ext cx="8245752" cy="76361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8F58B8-0F5F-21A7-FC37-56875BB59357}"/>
              </a:ext>
            </a:extLst>
          </p:cNvPr>
          <p:cNvSpPr txBox="1"/>
          <p:nvPr/>
        </p:nvSpPr>
        <p:spPr>
          <a:xfrm>
            <a:off x="472380" y="3393786"/>
            <a:ext cx="78762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 Loop Mirror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habit awareness system. It answers "why did I use it, and was it worth it?" instead of only "how much?".</a:t>
            </a:r>
            <a:b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links three things that other tools keep apart: </a:t>
            </a: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usage, notifications, and the user's own judgment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Every insight is explainable and comes with evidence, and every goal is built from the user's own baseline.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92C8A-BF34-9A49-3E7D-81AEF27DB5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039" y="2631279"/>
            <a:ext cx="8781756" cy="4572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BF33FD-5F36-4C2A-F8CE-9670E6E9BD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5EEF6CC5-5EA6-B284-2BDF-5789203C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061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792A4-9F38-B8BC-2C07-76CC9A132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439"/>
            <a:ext cx="3962400" cy="1284407"/>
          </a:xfrm>
          <a:prstGeom prst="rect">
            <a:avLst/>
          </a:prstGeom>
        </p:spPr>
      </p:pic>
      <p:sp>
        <p:nvSpPr>
          <p:cNvPr id="1048685" name="TextBox 28"/>
          <p:cNvSpPr txBox="1"/>
          <p:nvPr/>
        </p:nvSpPr>
        <p:spPr>
          <a:xfrm>
            <a:off x="76200" y="560439"/>
            <a:ext cx="3003088" cy="54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 dirty="0">
                <a:solidFill>
                  <a:srgbClr val="FFFFFF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OBJECTIVE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755EAB-CF15-B974-32F9-60127B1B5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14367"/>
            <a:ext cx="8245752" cy="76361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AC872-EEC0-0D9B-4F48-D6E62C61A442}"/>
              </a:ext>
            </a:extLst>
          </p:cNvPr>
          <p:cNvSpPr txBox="1"/>
          <p:nvPr/>
        </p:nvSpPr>
        <p:spPr>
          <a:xfrm>
            <a:off x="2895600" y="2296831"/>
            <a:ext cx="13317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usage patterns → give personalized insights → help users set and track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084A53-9176-7D57-86B5-C35C55BD3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699544"/>
              </p:ext>
            </p:extLst>
          </p:nvPr>
        </p:nvGraphicFramePr>
        <p:xfrm>
          <a:off x="2500728" y="3525487"/>
          <a:ext cx="12860594" cy="497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0297">
                  <a:extLst>
                    <a:ext uri="{9D8B030D-6E8A-4147-A177-3AD203B41FA5}">
                      <a16:colId xmlns:a16="http://schemas.microsoft.com/office/drawing/2014/main" val="3466704993"/>
                    </a:ext>
                  </a:extLst>
                </a:gridCol>
                <a:gridCol w="6430297">
                  <a:extLst>
                    <a:ext uri="{9D8B030D-6E8A-4147-A177-3AD203B41FA5}">
                      <a16:colId xmlns:a16="http://schemas.microsoft.com/office/drawing/2014/main" val="3777438017"/>
                    </a:ext>
                  </a:extLst>
                </a:gridCol>
              </a:tblGrid>
              <a:tr h="55728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Habit Loop Mirror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101653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Totals only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 → Evidence → Why it matters → Try this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268068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 separate from usage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 attribution</a:t>
                      </a: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reactive vs self-initiated sessions, plus notification-to-open rate per app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67930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"Social = bad" for everyone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Worth-it check</a:t>
                      </a: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the user's own taps decide which apps are leaky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429898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Guilt-driven resets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Forgiving streaks</a:t>
                      </a: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one slip per 7 days is allowed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740902"/>
                  </a:ext>
                </a:extLst>
              </a:tr>
              <a:tr h="557286">
                <a:tc>
                  <a:txBody>
                    <a:bodyPr/>
                    <a:lstStyle/>
                    <a:p>
                      <a:pPr algn="just"/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rules for everyone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 lenses</a:t>
                      </a: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Sleep better, Study/work focus, Be present</a:t>
                      </a:r>
                    </a:p>
                  </a:txBody>
                  <a:tcPr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5585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02F371C-FC29-0130-2DCA-01BAD7CD6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E2F91438-4E43-5659-7F5E-FEE15138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5" y="-10026"/>
            <a:ext cx="18288000" cy="1028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5CC2E-826D-48D1-9D38-9FBF71223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A8464-CDA6-C8B6-D240-5D1E7F5E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3962400" cy="1284407"/>
          </a:xfrm>
          <a:prstGeom prst="rect">
            <a:avLst/>
          </a:prstGeom>
        </p:spPr>
      </p:pic>
      <p:sp>
        <p:nvSpPr>
          <p:cNvPr id="1048709" name="TextBox 28"/>
          <p:cNvSpPr txBox="1"/>
          <p:nvPr/>
        </p:nvSpPr>
        <p:spPr>
          <a:xfrm>
            <a:off x="0" y="542291"/>
            <a:ext cx="3632555" cy="5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6A1F7-5EEE-5908-EE64-F02A55BD0A8C}"/>
              </a:ext>
            </a:extLst>
          </p:cNvPr>
          <p:cNvSpPr txBox="1"/>
          <p:nvPr/>
        </p:nvSpPr>
        <p:spPr>
          <a:xfrm>
            <a:off x="555458" y="2566346"/>
            <a:ext cx="6683542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+mj-lt"/>
              <a:buAutoNum type="arabicPeriod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Sessions and notifications via CSV, manual entry, or synthetic personas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Categorize: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app map, with user override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session within 3 min of a same-app notification is </a:t>
            </a:r>
            <a:r>
              <a:rPr lang="en-IN" sz="2600" i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</a:t>
            </a: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+mj-lt"/>
              <a:buAutoNum type="arabicPeriod"/>
            </a:pPr>
            <a:r>
              <a:rPr lang="en-IN" sz="2600" b="1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Peak hours, weekday vs weekend, long sessions (30+ min), habit loops (same app and hour, 4+ days a week)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Facts computed with pandas → </a:t>
            </a:r>
            <a:r>
              <a:rPr lang="en-IN" sz="2600" i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→ Evidence → Why → LLM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Recommend: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Targets 15% below the user's own median, with a forgiving streak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31420-161C-A52D-7D3A-A704290E7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750" y="1933074"/>
            <a:ext cx="9601200" cy="640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279C30-A88D-F483-FCFE-287770E5CD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">
            <a:extLst>
              <a:ext uri="{FF2B5EF4-FFF2-40B4-BE49-F238E27FC236}">
                <a16:creationId xmlns:a16="http://schemas.microsoft.com/office/drawing/2014/main" id="{7223EBBE-7F69-A0D6-F297-0244844D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37E4F8-48DF-B2DE-8FAE-771318528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3962400" cy="1284407"/>
          </a:xfrm>
          <a:prstGeom prst="rect">
            <a:avLst/>
          </a:prstGeom>
        </p:spPr>
      </p:pic>
      <p:sp>
        <p:nvSpPr>
          <p:cNvPr id="1048733" name="TextBox 28"/>
          <p:cNvSpPr txBox="1"/>
          <p:nvPr/>
        </p:nvSpPr>
        <p:spPr>
          <a:xfrm>
            <a:off x="-28775" y="525038"/>
            <a:ext cx="3632555" cy="5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WORKFLOW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FA6F56-6753-E034-95F8-392B404D1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083A31-D1C8-DDE5-4E53-FD8684EF1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3047487"/>
            <a:ext cx="15240000" cy="6086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6B2C8-AA54-3C51-0C25-58205EA3C04B}"/>
              </a:ext>
            </a:extLst>
          </p:cNvPr>
          <p:cNvSpPr txBox="1"/>
          <p:nvPr/>
        </p:nvSpPr>
        <p:spPr>
          <a:xfrm>
            <a:off x="3733800" y="1894449"/>
            <a:ext cx="11353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data → Categorize apps → Attribute triggers → </a:t>
            </a:r>
            <a:r>
              <a:rPr lang="en-IN" sz="2600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patterns → Generate insights → Recommend goals → Track progress → Dashboard &amp;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BB70C12D-1E1B-DA84-7EF7-F4A9B9FED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ACE71-FC78-29DB-6324-0123DB738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5562600" cy="1284407"/>
          </a:xfrm>
          <a:prstGeom prst="rect">
            <a:avLst/>
          </a:prstGeom>
        </p:spPr>
      </p:pic>
      <p:sp>
        <p:nvSpPr>
          <p:cNvPr id="1048756" name="TextBox 28"/>
          <p:cNvSpPr txBox="1"/>
          <p:nvPr/>
        </p:nvSpPr>
        <p:spPr>
          <a:xfrm>
            <a:off x="-76200" y="514788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D4097-CAB2-3942-EE79-344F0A742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29A63D-DDEE-598F-9058-29BB27E9A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398983"/>
              </p:ext>
            </p:extLst>
          </p:nvPr>
        </p:nvGraphicFramePr>
        <p:xfrm>
          <a:off x="3806576" y="2417213"/>
          <a:ext cx="10248900" cy="60788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3881963116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1119345672"/>
                    </a:ext>
                  </a:extLst>
                </a:gridCol>
              </a:tblGrid>
              <a:tr h="577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92538"/>
                  </a:ext>
                </a:extLst>
              </a:tr>
              <a:tr h="1010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upload · Manual entry · Synthetic personas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693691"/>
                  </a:ext>
                </a:extLst>
              </a:tr>
              <a:tr h="1010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Cleaning · Categorization · Trigger attribution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658284"/>
                  </a:ext>
                </a:extLst>
              </a:tr>
              <a:tr h="1010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Patterns · Notification stats · Habit detection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385167"/>
                  </a:ext>
                </a:extLst>
              </a:tr>
              <a:tr h="1010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Rules + statistics → LLM rewording (template fallback)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07068"/>
                  </a:ext>
                </a:extLst>
              </a:tr>
              <a:tr h="577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 · Goals · Streaks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804822"/>
                  </a:ext>
                </a:extLst>
              </a:tr>
              <a:tr h="577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 using React and Python</a:t>
                      </a:r>
                    </a:p>
                  </a:txBody>
                  <a:tcPr anchor="ctr">
                    <a:solidFill>
                      <a:srgbClr val="6D4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9003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02D0CE1-921D-5A5A-A3FA-322660A13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AACEEAAA-C008-88E3-3E4E-1B68CA94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78243-22DA-86AC-C73C-248E2DD6C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4267200" cy="1284407"/>
          </a:xfrm>
          <a:prstGeom prst="rect">
            <a:avLst/>
          </a:prstGeom>
        </p:spPr>
      </p:pic>
      <p:sp>
        <p:nvSpPr>
          <p:cNvPr id="1048779" name="TextBox 28"/>
          <p:cNvSpPr txBox="1"/>
          <p:nvPr/>
        </p:nvSpPr>
        <p:spPr>
          <a:xfrm>
            <a:off x="-685800" y="563545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94288A-B8B6-3011-445A-2E19A0180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834433"/>
            <a:ext cx="8245752" cy="76361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A04D9-97CF-EB56-8D21-1C25F4C8EB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214" y="2548079"/>
            <a:ext cx="7886700" cy="571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8A95F3-40C0-DD70-BFEC-E3160E1A4D01}"/>
              </a:ext>
            </a:extLst>
          </p:cNvPr>
          <p:cNvSpPr txBox="1"/>
          <p:nvPr/>
        </p:nvSpPr>
        <p:spPr>
          <a:xfrm>
            <a:off x="377314" y="2358591"/>
            <a:ext cx="949058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Python,React,CSS,Node.js,FastAPI,pandas and </a:t>
            </a:r>
            <a:r>
              <a:rPr lang="en-IN" sz="2600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NumPy,Plotly,SHAP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600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),LLM API (Kimi K3)</a:t>
            </a:r>
          </a:p>
          <a:p>
            <a:b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upload, manual entry, or synthetic personas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attribution: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session within 3 min of a same-app notification is labelled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 Analytics: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hours, weekly trends, notification heatmap, habit loops, long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→ Evidence → Why → Try this, with numbers computed by code and the LLM only rewording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 15% below the user's own median, with forgiving streaks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Report: Show screen time, app usage, notifications, trends, goals, and recommendations.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D3E864-4055-1C58-7CEA-5E71F272AE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4A947549-3108-41ED-0746-83935A90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E6DC2-C168-0EC7-0403-126652CB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4191000" cy="1284407"/>
          </a:xfrm>
          <a:prstGeom prst="rect">
            <a:avLst/>
          </a:prstGeom>
        </p:spPr>
      </p:pic>
      <p:sp>
        <p:nvSpPr>
          <p:cNvPr id="1048802" name="TextBox 28"/>
          <p:cNvSpPr txBox="1"/>
          <p:nvPr/>
        </p:nvSpPr>
        <p:spPr>
          <a:xfrm>
            <a:off x="-685800" y="522808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B19F9-38A8-3304-F915-16F3E7B29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348" y="1325428"/>
            <a:ext cx="8245752" cy="76361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4AF36B-28F2-5D12-CC43-BA79F7B8C731}"/>
              </a:ext>
            </a:extLst>
          </p:cNvPr>
          <p:cNvSpPr txBox="1"/>
          <p:nvPr/>
        </p:nvSpPr>
        <p:spPr>
          <a:xfrm>
            <a:off x="174348" y="2671453"/>
            <a:ext cx="93506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comes from CSV, manual entry, or synthetic personas because phones offer no easy export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attribution shows association, not proof of cause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Phase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SQLite storage, screenshot import, Android collector</a:t>
            </a:r>
            <a:b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dirty="0">
              <a:solidFill>
                <a:srgbClr val="6D41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Import data → </a:t>
            </a:r>
            <a:r>
              <a:rPr lang="en-IN" sz="2600" dirty="0" err="1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habits → Insights → Recommendations → Goal progress</a:t>
            </a:r>
          </a:p>
          <a:p>
            <a:pPr>
              <a:buNone/>
            </a:pP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</a:p>
          <a:p>
            <a:pPr>
              <a:buNone/>
            </a:pPr>
            <a:b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 : </a:t>
            </a:r>
            <a:r>
              <a:rPr lang="en-IN" sz="2600" dirty="0">
                <a:solidFill>
                  <a:srgbClr val="6D41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around the age of 17 – 40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191EF-D470-BE1B-0EDD-A263E676E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2552700"/>
            <a:ext cx="8382000" cy="518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0681D8-9F0F-A1ED-B8EF-E2FE9BFB1C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8614" y="20894"/>
            <a:ext cx="1158642" cy="11586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">
            <a:extLst>
              <a:ext uri="{FF2B5EF4-FFF2-40B4-BE49-F238E27FC236}">
                <a16:creationId xmlns:a16="http://schemas.microsoft.com/office/drawing/2014/main" id="{7DBB2B46-1DB3-3AD8-9F19-D1450F82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48825" name="Freeform 27"/>
          <p:cNvSpPr/>
          <p:nvPr/>
        </p:nvSpPr>
        <p:spPr>
          <a:xfrm>
            <a:off x="4419600" y="2857500"/>
            <a:ext cx="9767927" cy="5170896"/>
          </a:xfrm>
          <a:custGeom>
            <a:avLst/>
            <a:gdLst/>
            <a:ahLst/>
            <a:cxnLst/>
            <a:rect l="l" t="t" r="r" b="b"/>
            <a:pathLst>
              <a:path w="9767927" h="5170896">
                <a:moveTo>
                  <a:pt x="0" y="0"/>
                </a:moveTo>
                <a:lnTo>
                  <a:pt x="9767927" y="0"/>
                </a:lnTo>
                <a:lnTo>
                  <a:pt x="9767927" y="5170896"/>
                </a:lnTo>
                <a:lnTo>
                  <a:pt x="0" y="5170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717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motorola edge 70 fusion</dc:creator>
  <cp:lastModifiedBy>vigneshsri200622@outlook.com</cp:lastModifiedBy>
  <cp:revision>3</cp:revision>
  <dcterms:created xsi:type="dcterms:W3CDTF">2006-08-15T13:00:00Z</dcterms:created>
  <dcterms:modified xsi:type="dcterms:W3CDTF">2026-09-29T11:02:30Z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1b1bae9e81f54a55bb3e6199b0231bd3_23</vt:lpwstr>
  </property>
  <property fmtid="{D5CDD505-2E9C-101B-9397-08002B2CF9AE}" pid="3" name="KSOProductBuildVer">
    <vt:lpwstr>2057-12.2.0.23206</vt:lpwstr>
  </property>
</Properties>
</file>